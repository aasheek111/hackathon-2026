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(35s) Good morning. I want to start with two children.</a:t>
            </a:r>
          </a:p>
          <a:p>
            <a:r>
              <a:t>The first learns by seeing — we hand him a wall of text.</a:t>
            </a:r>
          </a:p>
          <a:p>
            <a:r>
              <a:t>The second loses focus after ninety seconds — we give her a forty-minute lecture.</a:t>
            </a:r>
          </a:p>
          <a:p>
            <a:r>
              <a:t>Here's the uncomfortable part: for both of those children, the content WAS available.</a:t>
            </a:r>
          </a:p>
          <a:p>
            <a:r>
              <a:t>Captions existed. A PDF existed. And neither of them actually learned.</a:t>
            </a:r>
          </a:p>
          <a:p>
            <a:r>
              <a:t>UNESCO tells us learners with disabilities are two and a half times more likely to never attend school —</a:t>
            </a:r>
          </a:p>
          <a:p>
            <a:r>
              <a:t>but the ones who DO make it into the classroom are often still excluded, just more quietly.</a:t>
            </a:r>
          </a:p>
          <a:p>
            <a:r>
              <a:t>That's the gap we built Pragya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(40s) Here's our core insight, and it's the whole pitch in one line:</a:t>
            </a:r>
          </a:p>
          <a:p>
            <a:r>
              <a:t>accessibility is not the same as adaptability.</a:t>
            </a:r>
          </a:p>
          <a:p>
            <a:r>
              <a:t>Coursera, Khan Academy, screen readers, captions — they solved a genuinely hard problem:</a:t>
            </a:r>
          </a:p>
          <a:p>
            <a:r>
              <a:t>CAN the learner reach the content. They did it well, and we're not rebuilding it.</a:t>
            </a:r>
          </a:p>
          <a:p>
            <a:r>
              <a:t>But look at the left column. Even with a perfect accessibility layer,</a:t>
            </a:r>
          </a:p>
          <a:p>
            <a:r>
              <a:t>every learner still walks the same path, in the same format, at the same pace.</a:t>
            </a:r>
          </a:p>
          <a:p>
            <a:r>
              <a:t>The learner is expected to adapt to the platform.</a:t>
            </a:r>
          </a:p>
          <a:p>
            <a:r>
              <a:t>We flip the arrow. Same content — but the path itself changes based on how that specific</a:t>
            </a:r>
          </a:p>
          <a:p>
            <a:r>
              <a:t>student actually engages. That's the half nobody has automated.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(40s) So this is Pragya — and the name means wisdom.</a:t>
            </a:r>
          </a:p>
          <a:p>
            <a:r>
              <a:t>One sentence: it's an adaptive inclusive learning LAYER that takes the curriculum a teacher</a:t>
            </a:r>
          </a:p>
          <a:p>
            <a:r>
              <a:t>already has, and turns it into a multimodal experience that reshapes itself around each learner.</a:t>
            </a:r>
          </a:p>
          <a:p>
            <a:r>
              <a:t>Three things matter here. It works on content teachers already own — no new library to build.</a:t>
            </a:r>
          </a:p>
          <a:p>
            <a:r>
              <a:t>Every lesson exists in four modes at once. And it adapts from what the learner actually does,</a:t>
            </a:r>
          </a:p>
          <a:p>
            <a:r>
              <a:t>not from a form they filled in.</a:t>
            </a:r>
          </a:p>
          <a:p>
            <a:r>
              <a:t>What you're seeing on the right is not a mockup. That's the running product —</a:t>
            </a:r>
          </a:p>
          <a:p>
            <a:r>
              <a:t>one water-cycle lesson, and those four buttons are Text, Audio, Visual and AR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(50s) This is the most important slide, so let me walk it left to right.</a:t>
            </a:r>
          </a:p>
          <a:p>
            <a:r>
              <a:t>A teacher uploads the PDF they already teach from. Our engine reads the WHOLE document —</a:t>
            </a:r>
          </a:p>
          <a:p>
            <a:r>
              <a:t>not the first few pages — and splits it into properly sequenced lessons.</a:t>
            </a:r>
          </a:p>
          <a:p>
            <a:r>
              <a:t>Each lesson is then produced in every modality at once: text, narrated audio,</a:t>
            </a:r>
          </a:p>
          <a:p>
            <a:r>
              <a:t>a real image, a knowledge check, and an AR game built from that unit's own questions.</a:t>
            </a:r>
          </a:p>
          <a:p>
            <a:r>
              <a:t>The student learns in whichever mode works for them.</a:t>
            </a:r>
          </a:p>
          <a:p>
            <a:r>
              <a:t>And then the important bit — we collect signals. Which answers they got right,</a:t>
            </a:r>
          </a:p>
          <a:p>
            <a:r>
              <a:t>where their focus dropped, which mode they kept switching back to.</a:t>
            </a:r>
          </a:p>
          <a:p>
            <a:r>
              <a:t>That feeds the adaptive engine, and the next lesson is presented differently.</a:t>
            </a:r>
          </a:p>
          <a:p>
            <a:r>
              <a:t>The loop at the bottom IS the product. Everything above it is plumbing.</a:t>
            </a:r>
          </a:p>
          <a:p>
            <a:r>
              <a:t>And critically — the teacher never hand-builds five versions of one lesson.</a:t>
            </a:r>
          </a:p>
          <a:p>
            <a:r>
              <a:t>They upload once; it's generated in the background before any student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(50s) This is the slide I'd ask you to remember.</a:t>
            </a:r>
          </a:p>
          <a:p>
            <a:r>
              <a:t>Almost everything marketed as "personalised learning" asks a student to pick a preference once,</a:t>
            </a:r>
          </a:p>
          <a:p>
            <a:r>
              <a:t>in a form, and then never checks whether that choice was right.</a:t>
            </a:r>
          </a:p>
          <a:p>
            <a:r>
              <a:t>Ours observes. We run our own computer-vision service — real face and gaze detection —</a:t>
            </a:r>
          </a:p>
          <a:p>
            <a:r>
              <a:t>and while a student is working, we're reading engagement, not identity.</a:t>
            </a:r>
          </a:p>
          <a:p>
            <a:r>
              <a:t>If their attention drops for a sustained period, the app switches modality mid-session.</a:t>
            </a:r>
          </a:p>
          <a:p>
            <a:r>
              <a:t>It doesn't wait for them to give up and it doesn't wait for a teacher to notice.</a:t>
            </a:r>
          </a:p>
          <a:p>
            <a:r>
              <a:t>And that finding persists: the mode that actually held their attention becomes the default</a:t>
            </a:r>
          </a:p>
          <a:p>
            <a:r>
              <a:t>next time they open a lesson.</a:t>
            </a:r>
          </a:p>
          <a:p>
            <a:r>
              <a:t>Now the ethical line, because you should push me on it — and I'll say it before you do:</a:t>
            </a:r>
          </a:p>
          <a:p>
            <a:r>
              <a:t>low attention tells us to change how WE teach. It is never a diagnosis of the child.</a:t>
            </a:r>
          </a:p>
          <a:p>
            <a:r>
              <a:t>We don't screen for autism or any condition. We analyse frames for engagement; we don't store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(55s) These are three real screens from the running app, same lesson each time.</a:t>
            </a:r>
          </a:p>
          <a:p>
            <a:r>
              <a:t>On the left, text — clean, paced, nothing fighting for attention.</a:t>
            </a:r>
          </a:p>
          <a:p>
            <a:r>
              <a:t>In the middle, visual mode — the picture leads and the type gets larger.</a:t>
            </a:r>
          </a:p>
          <a:p>
            <a:r>
              <a:t>That larger type isn't decoration: if a learner's attention score is low, we simplify automatically.</a:t>
            </a:r>
          </a:p>
          <a:p>
            <a:r>
              <a:t>On the right is the AR game. It's a 3D scene, and a student can pop the balloon with the</a:t>
            </a:r>
          </a:p>
          <a:p>
            <a:r>
              <a:t>correct answer using their fingertip through the camera — or just click, if they can't or don't want to.</a:t>
            </a:r>
          </a:p>
          <a:p>
            <a:r>
              <a:t>The clever part is the AR questions come from that unit's OWN knowledge checks,</a:t>
            </a:r>
          </a:p>
          <a:p>
            <a:r>
              <a:t>so it costs us nothing extra to generate.</a:t>
            </a:r>
          </a:p>
          <a:p>
            <a:r>
              <a:t>Switching modes never regenerates anything and never loses their place —</a:t>
            </a:r>
          </a:p>
          <a:p>
            <a:r>
              <a:t>so a child who's struggling can move to a different format mid-lesson without penalty.</a:t>
            </a:r>
          </a:p>
          <a:p>
            <a:r>
              <a:t>And for a learner who just wants the original document, that door is there too, with page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(45s) Now the teacher's side, because none of this works if it adds to their workload.</a:t>
            </a:r>
          </a:p>
          <a:p>
            <a:r>
              <a:t>They upload the PDF they already have. From that one file we produce the lesson plan across the</a:t>
            </a:r>
          </a:p>
          <a:p>
            <a:r>
              <a:t>whole document, the images, the narration, the knowledge checks, the final exam and the AR game.</a:t>
            </a:r>
          </a:p>
          <a:p>
            <a:r>
              <a:t>It runs on a background queue with real progress, so they carry on working — and every piece</a:t>
            </a:r>
          </a:p>
          <a:p>
            <a:r>
              <a:t>stays under their control. They can preview it, regenerate just the visuals, or redo the whole plan.</a:t>
            </a:r>
          </a:p>
          <a:p>
            <a:r>
              <a:t>But this is the part teachers tell us they've never had.</a:t>
            </a:r>
          </a:p>
          <a:p>
            <a:r>
              <a:t>That's a concentration heatmap: every student down the side, every lesson across the top.</a:t>
            </a:r>
          </a:p>
          <a:p>
            <a:r>
              <a:t>Green means they stayed with you. That amber 38 means lesson three lost them.</a:t>
            </a:r>
          </a:p>
          <a:p>
            <a:r>
              <a:t>Today a teacher finds that out from exam results at the end of term.</a:t>
            </a:r>
          </a:p>
          <a:p>
            <a:r>
              <a:t>Here they see it the same day — per student, per lesson — while they can still do something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(45s) If you forget everything else, keep this.</a:t>
            </a:r>
          </a:p>
          <a:p>
            <a:r>
              <a:t>Don't make every learner adapt to education. Make education adapt to every learner.</a:t>
            </a:r>
          </a:p>
          <a:p>
            <a:r>
              <a:t>Three ways we're different. We're learner-adaptive, not merely accessible —</a:t>
            </a:r>
          </a:p>
          <a:p>
            <a:r>
              <a:t>the experience changes based on evidence, not a checkbox.</a:t>
            </a:r>
          </a:p>
          <a:p>
            <a:r>
              <a:t>We're multimodal by default, not one format with accessibility bolted on afterwards.</a:t>
            </a:r>
          </a:p>
          <a:p>
            <a:r>
              <a:t>And we transform the content a teacher already owns — we are not asking anyone</a:t>
            </a:r>
          </a:p>
          <a:p>
            <a:r>
              <a:t>to abandon Khan Academy or their own materials and move to yet another library.</a:t>
            </a:r>
          </a:p>
          <a:p>
            <a:r>
              <a:t>The one-liner: existing platforms help a learner reach the content.</a:t>
            </a:r>
          </a:p>
          <a:p>
            <a:r>
              <a:t>We help the content reach the learner.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(40s) Quickly on impact and how this survives past the hackathon.</a:t>
            </a:r>
          </a:p>
          <a:p>
            <a:r>
              <a:t>The problem: learners excluded by one-size-fits-all delivery, and teachers who don't have</a:t>
            </a:r>
          </a:p>
          <a:p>
            <a:r>
              <a:t>the hours to fix it by hand. Our solution generates adaptive multimodal learning</a:t>
            </a:r>
          </a:p>
          <a:p>
            <a:r>
              <a:t>from curriculum schools ALREADY own. The impact we're aiming at is completion —</a:t>
            </a:r>
          </a:p>
          <a:p>
            <a:r>
              <a:t>more learners who can access it, stay with it, and actually finish.</a:t>
            </a:r>
          </a:p>
          <a:p>
            <a:r>
              <a:t>On money: it's B2B and B2G. Schools subscribe per classroom;</a:t>
            </a:r>
          </a:p>
          <a:p>
            <a:r>
              <a:t>NGOs and government inclusive-education programmes deploy across a district.</a:t>
            </a:r>
          </a:p>
          <a:p>
            <a:r>
              <a:t>A student never pays to reach their own classroom's material.</a:t>
            </a:r>
          </a:p>
          <a:p>
            <a:r>
              <a:t>And we built this from Nepal, for Nepal first — eSewa is already integrated,</a:t>
            </a:r>
          </a:p>
          <a:p>
            <a:r>
              <a:t>it runs on modest hardware, and it's designed for schools that have no specialist support staff,</a:t>
            </a:r>
          </a:p>
          <a:p>
            <a:r>
              <a:t>which is most of them. That's SDG 4 — not by building new schools,</a:t>
            </a:r>
          </a:p>
          <a:p>
            <a:r>
              <a:t>but by making the ones that already exist reach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(25s) So — three things to take with you.</a:t>
            </a:r>
          </a:p>
          <a:p>
            <a:r>
              <a:t>One: accessibility and adaptability are not the same problem, and only one of them is solved.</a:t>
            </a:r>
          </a:p>
          <a:p>
            <a:r>
              <a:t>Two: we turn a teacher's existing PDF into four ways to learn, without adding to their workload.</a:t>
            </a:r>
          </a:p>
          <a:p>
            <a:r>
              <a:t>Three: the loop is genuinely closed — the system observes, adapts, and shows the teacher</a:t>
            </a:r>
          </a:p>
          <a:p>
            <a:r>
              <a:t>exactly where attention was lost.</a:t>
            </a:r>
          </a:p>
          <a:p>
            <a:r>
              <a:t>Education should adapt to the learner, not the other way around.</a:t>
            </a:r>
          </a:p>
          <a:p>
            <a:r>
              <a:t>That's Pragya.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5CFF"/>
                </a:solidFill>
                <a:latin typeface="Segoe UI"/>
              </a:rPr>
              <a:t>HACKATHON 2026  ·  INCLUSIVE EDUCATION  ·  SDG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Education is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 i="0">
                <a:solidFill>
                  <a:srgbClr val="7C5CFF"/>
                </a:solidFill>
                <a:latin typeface="Segoe UI"/>
              </a:rPr>
              <a:t>Learning isn't.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8778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9CA3AF"/>
                </a:solidFill>
                <a:latin typeface="Segoe UI"/>
              </a:rPr>
              <a:t>A child who learns by seeing is handed a wall of text.</a:t>
            </a:r>
          </a:p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9CA3AF"/>
                </a:solidFill>
                <a:latin typeface="Segoe UI"/>
              </a:rPr>
              <a:t>A child who loses focus after 90 seconds is given a 40-minute lecture.</a:t>
            </a:r>
          </a:p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9CA3AF"/>
                </a:solidFill>
                <a:latin typeface="Segoe UI"/>
              </a:rPr>
              <a:t>The content was “available” to both. Neither of them learned.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138928"/>
            <a:ext cx="5943600" cy="822960"/>
          </a:xfrm>
          <a:prstGeom prst="roundRect">
            <a:avLst>
              <a:gd name="adj" fmla="val 14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330952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Learners with disabilities are 2.5× more likely to never attend school.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98932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B7280"/>
                </a:solidFill>
                <a:latin typeface="Segoe UI"/>
              </a:rPr>
              <a:t>UNESCO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5138928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Pragya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715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0B981"/>
                </a:solidFill>
                <a:latin typeface="Segoe UI"/>
              </a:rPr>
              <a:t>Empowering Every Mind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5CFF"/>
                </a:solidFill>
                <a:latin typeface="Segoe U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Accessibility is not the same as adaptability.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CA3AF"/>
                </a:solidFill>
                <a:latin typeface="Segoe UI"/>
              </a:rPr>
              <a:t>The industry solved “can the learner reach the content?”  The unsolved half is “did the content reach the learner?”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CA3AF"/>
                </a:solidFill>
                <a:latin typeface="Segoe UI"/>
              </a:rPr>
              <a:t>TODAY'S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00400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9300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Segoe UI"/>
              </a:rPr>
              <a:t>One fixed format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229868" y="3749040"/>
            <a:ext cx="137160" cy="18288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59352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+ Accessibility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519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Segoe UI"/>
              </a:rPr>
              <a:t>Captions · transcript · TTS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229868" y="4507992"/>
            <a:ext cx="137160" cy="18288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718304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Same path for everyone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1091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Segoe UI"/>
              </a:rPr>
              <a:t>The learner adapts to the platform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42316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A1A28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69748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5CFF"/>
                </a:solidFill>
                <a:latin typeface="Segoe UI"/>
              </a:rPr>
              <a:t>PRAGYA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00400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9300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Teacher's existing PDF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761988" y="3749040"/>
            <a:ext cx="137160" cy="182880"/>
          </a:xfrm>
          <a:prstGeom prst="down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959352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+ Learner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2519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How this student actually engages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761988" y="4507992"/>
            <a:ext cx="137160" cy="182880"/>
          </a:xfrm>
          <a:prstGeom prst="downArrow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718304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Path adapts, continuously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01091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The platform adapts to the learner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978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7280"/>
                </a:solidFill>
                <a:latin typeface="Segoe UI"/>
              </a:rPr>
              <a:t>Coursera, Khan Academy and screen readers already solved accessibility well. We are not rebuilding that — we start where it stops.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5CFF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5852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Meet Pragya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577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50" b="0" i="0">
                <a:solidFill>
                  <a:srgbClr val="9CA3AF"/>
                </a:solidFill>
                <a:latin typeface="Segoe UI"/>
              </a:rPr>
              <a:t>An adaptive inclusive learning layer that turns a teacher's existing curriculum into a multimodal experience — and reshapes it around each learner.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602736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5204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FFFFF"/>
                </a:solidFill>
                <a:latin typeface="Segoe UI"/>
              </a:rPr>
              <a:t>Works on content teachers already have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169664"/>
            <a:ext cx="118872" cy="118872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40873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FFFFF"/>
                </a:solidFill>
                <a:latin typeface="Segoe UI"/>
              </a:rPr>
              <a:t>Four ways to learn the same lesson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73659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465429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FFFFFF"/>
                </a:solidFill>
                <a:latin typeface="Segoe UI"/>
              </a:rPr>
              <a:t>Adapts from what the learner actually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0B981"/>
                </a:solidFill>
                <a:latin typeface="Segoe UI"/>
              </a:rPr>
              <a:t>Not another course library.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0B981"/>
                </a:solidFill>
                <a:latin typeface="Segoe UI"/>
              </a:rPr>
              <a:t>A layer that sits on top of the ones you already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88836" y="1138428"/>
            <a:ext cx="4910328" cy="2576821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_tutorial_visual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70432"/>
            <a:ext cx="4846320" cy="251281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20840" y="58064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Live product — one lesson, four modes, learner-selectable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5CFF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5039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One curriculum in. Every way to learn it,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975104" cy="1965960"/>
          </a:xfrm>
          <a:prstGeom prst="roundRect">
            <a:avLst>
              <a:gd name="adj" fmla="val 8000"/>
            </a:avLst>
          </a:prstGeom>
          <a:solidFill>
            <a:srgbClr val="141420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B981"/>
                </a:solidFill>
                <a:latin typeface="Segoe UI"/>
              </a:rPr>
              <a:t>TEACHER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24912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Uploads the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PDF they already use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25496" y="2670048"/>
            <a:ext cx="118872" cy="1371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1783080"/>
            <a:ext cx="1975104" cy="1965960"/>
          </a:xfrm>
          <a:prstGeom prst="roundRect">
            <a:avLst>
              <a:gd name="adj" fmla="val 8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54680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011680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395728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5CFF"/>
                </a:solidFill>
                <a:latin typeface="Segoe UI"/>
              </a:rPr>
              <a:t>AI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724912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Reads it end-to-end,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splits into lessons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74336" y="2670048"/>
            <a:ext cx="118872" cy="1371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1783080"/>
            <a:ext cx="1975104" cy="1965960"/>
          </a:xfrm>
          <a:prstGeom prst="roundRect">
            <a:avLst>
              <a:gd name="adj" fmla="val 8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0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011680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395728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5CFF"/>
                </a:solidFill>
                <a:latin typeface="Segoe UI"/>
              </a:rPr>
              <a:t>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724912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Text · Audio · Visual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· AR · Questions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23176" y="2670048"/>
            <a:ext cx="118872" cy="1371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69480" y="1783080"/>
            <a:ext cx="1975104" cy="1965960"/>
          </a:xfrm>
          <a:prstGeom prst="roundRect">
            <a:avLst>
              <a:gd name="adj" fmla="val 8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52360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011680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395728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9E0B"/>
                </a:solidFill>
                <a:latin typeface="Segoe UI"/>
              </a:rPr>
              <a:t>LEARNER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724912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Learns in the mode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that works for them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272016" y="2670048"/>
            <a:ext cx="118872" cy="13716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18320" y="1783080"/>
            <a:ext cx="1975104" cy="1965960"/>
          </a:xfrm>
          <a:prstGeom prst="roundRect">
            <a:avLst>
              <a:gd name="adj" fmla="val 8000"/>
            </a:avLst>
          </a:prstGeom>
          <a:solidFill>
            <a:srgbClr val="141420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0" y="1965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011680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395728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9E0B"/>
                </a:solidFill>
                <a:latin typeface="Segoe UI"/>
              </a:rPr>
              <a:t>SIGNALS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724912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Focus, answers,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mode switches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069080"/>
            <a:ext cx="10625328" cy="841248"/>
          </a:xfrm>
          <a:prstGeom prst="roundRect">
            <a:avLst>
              <a:gd name="adj" fmla="val 22000"/>
            </a:avLst>
          </a:prstGeom>
          <a:solidFill>
            <a:srgbClr val="1A1A28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22452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7C5CFF"/>
                </a:solidFill>
                <a:latin typeface="Segoe UI"/>
              </a:rPr>
              <a:t>↺   ADAPTIVE ENGINE   —   the next lesson is presented differently, and the teacher sees where attention dropped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553712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This loop is the product. Everything above it is plumbing.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23036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CA3AF"/>
                </a:solidFill>
                <a:latin typeface="Segoe UI"/>
              </a:rPr>
              <a:t>The teacher never creates five versions of one lesson. They upload once — generation runs on a background queue,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9CA3AF"/>
                </a:solidFill>
                <a:latin typeface="Segoe UI"/>
              </a:rPr>
              <a:t>so by the time a student opens the unit, the text, the pictures, the questions and the AR game are already waiting.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5CFF"/>
                </a:solidFill>
                <a:latin typeface="Segoe UI"/>
              </a:rPr>
              <a:t>WHY THIS IS DIFFERENT  ·  WORKING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loop is actually closed.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9CA3AF"/>
                </a:solidFill>
                <a:latin typeface="Segoe UI"/>
              </a:rPr>
              <a:t>Most “personalised learning” asks the student to pick a preference once. Ours watches whether it is working.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3346704" cy="2286000"/>
          </a:xfrm>
          <a:prstGeom prst="roundRect">
            <a:avLst>
              <a:gd name="adj" fmla="val 7000"/>
            </a:avLst>
          </a:prstGeom>
          <a:solidFill>
            <a:srgbClr val="141420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4871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B981"/>
                </a:solidFill>
                <a:latin typeface="Segoe UI"/>
              </a:rPr>
              <a:t>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907792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The webcam reads face,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eye contact and gaze —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processed by our own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computer-vision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346704" cy="2286000"/>
          </a:xfrm>
          <a:prstGeom prst="roundRect">
            <a:avLst>
              <a:gd name="adj" fmla="val 7000"/>
            </a:avLst>
          </a:prstGeom>
          <a:solidFill>
            <a:srgbClr val="141420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4871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7C5CFF"/>
                </a:solidFill>
                <a:latin typeface="Segoe UI"/>
              </a:rPr>
              <a:t>Adapt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907792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If attention drops for long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enough during assessment,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the app switches modality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mid-session, by itself.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40280"/>
            <a:ext cx="3346704" cy="2286000"/>
          </a:xfrm>
          <a:prstGeom prst="roundRect">
            <a:avLst>
              <a:gd name="adj" fmla="val 7000"/>
            </a:avLst>
          </a:prstGeom>
          <a:solidFill>
            <a:srgbClr val="141420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24871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59E0B"/>
                </a:solidFill>
                <a:latin typeface="Segoe UI"/>
              </a:rPr>
              <a:t>Carry it forward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907792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The mode that held their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attention becomes the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default when they open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their next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73168"/>
            <a:ext cx="10625328" cy="960120"/>
          </a:xfrm>
          <a:prstGeom prst="roundRect">
            <a:avLst>
              <a:gd name="adj" fmla="val 18000"/>
            </a:avLst>
          </a:prstGeom>
          <a:solidFill>
            <a:srgbClr val="1A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93776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Low attention is a signal to change how we teach — never a diagnosis of the child.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529437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We do not screen, label, or diagnose any condition. Frames are analysed for engagement and are not stored.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7280"/>
                </a:solidFill>
                <a:latin typeface="Segoe UI"/>
              </a:rPr>
              <a:t>Teacher stays in control: they preview, regenerate, or override anything the AI produces.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5CFF"/>
                </a:solidFill>
                <a:latin typeface="Segoe UI"/>
              </a:rPr>
              <a:t>LIVE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9552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Segoe UI"/>
              </a:rPr>
              <a:t>The same lesson. Four genuinely different experiences.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" y="1568196"/>
            <a:ext cx="3465576" cy="1720362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tutorial_tex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3401568" cy="165635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11980" y="1568196"/>
            <a:ext cx="3465576" cy="1827718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tutorial_visual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600200"/>
            <a:ext cx="3401568" cy="176371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33004" y="1568196"/>
            <a:ext cx="3374136" cy="1780307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ar_g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1600200"/>
            <a:ext cx="3310128" cy="17162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4498848"/>
            <a:ext cx="3401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Segoe UI"/>
              </a:rPr>
              <a:t>TEXT  ·  read at your 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4498848"/>
            <a:ext cx="3401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7C5CFF"/>
                </a:solidFill>
                <a:latin typeface="Segoe UI"/>
              </a:rPr>
              <a:t>VISUAL  ·  image-led, larger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4498848"/>
            <a:ext cx="3310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B981"/>
                </a:solidFill>
                <a:latin typeface="Segoe UI"/>
              </a:rPr>
              <a:t>AR GAME  ·  pop the right answer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83480"/>
            <a:ext cx="10552176" cy="932688"/>
          </a:xfrm>
          <a:prstGeom prst="roundRect">
            <a:avLst>
              <a:gd name="adj" fmla="val 16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148072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AUDIO mode auto-narrates each lesson. AR mode is built from that unit's own questions — no extra AI cost.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504688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Switching mode never regenerates content or loses the student's place — they can move freely mid-lesson.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4476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B7280"/>
                </a:solidFill>
                <a:latin typeface="Segoe UI"/>
              </a:rPr>
              <a:t>There is also a second door: any student can read the teacher's original PDF instead, and it remembers their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5CFF"/>
                </a:solidFill>
                <a:latin typeface="Segoe UI"/>
              </a:rPr>
              <a:t>FOR THE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95528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FFFFF"/>
                </a:solidFill>
                <a:latin typeface="Segoe UI"/>
              </a:rPr>
              <a:t>One upload. Five formats. And it tells you where you lost the class.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874519" cy="841248"/>
          </a:xfrm>
          <a:prstGeom prst="roundRect">
            <a:avLst>
              <a:gd name="adj" fmla="val 14000"/>
            </a:avLst>
          </a:prstGeom>
          <a:solidFill>
            <a:srgbClr val="141420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19072"/>
            <a:ext cx="16367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Existing PDF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34055" y="1929384"/>
            <a:ext cx="128016" cy="12801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53512" y="1572768"/>
            <a:ext cx="1874519" cy="841248"/>
          </a:xfrm>
          <a:prstGeom prst="roundRect">
            <a:avLst>
              <a:gd name="adj" fmla="val 14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2384" y="1719072"/>
            <a:ext cx="16367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Full-document</a:t>
            </a:r>
          </a:p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lesson plan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64607" y="1929384"/>
            <a:ext cx="128016" cy="12801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84064" y="1572768"/>
            <a:ext cx="1874519" cy="841248"/>
          </a:xfrm>
          <a:prstGeom prst="roundRect">
            <a:avLst>
              <a:gd name="adj" fmla="val 14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2936" y="1719072"/>
            <a:ext cx="16367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Images +</a:t>
            </a:r>
          </a:p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narration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95159" y="1929384"/>
            <a:ext cx="128016" cy="12801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14616" y="1572768"/>
            <a:ext cx="1874519" cy="841248"/>
          </a:xfrm>
          <a:prstGeom prst="roundRect">
            <a:avLst>
              <a:gd name="adj" fmla="val 14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1719072"/>
            <a:ext cx="16367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Knowledge checks</a:t>
            </a:r>
          </a:p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+ final exam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25711" y="1929384"/>
            <a:ext cx="128016" cy="12801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45168" y="1572768"/>
            <a:ext cx="1874519" cy="841248"/>
          </a:xfrm>
          <a:prstGeom prst="roundRect">
            <a:avLst>
              <a:gd name="adj" fmla="val 14000"/>
            </a:avLst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719072"/>
            <a:ext cx="16367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AR 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606040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9CA3AF"/>
                </a:solidFill>
                <a:latin typeface="Segoe UI"/>
              </a:rPr>
              <a:t>Generated on a background queue with real progress —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9CA3AF"/>
                </a:solidFill>
                <a:latin typeface="Segoe UI"/>
              </a:rPr>
              <a:t>the teacher keeps working while it runs.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9CA3AF"/>
                </a:solidFill>
                <a:latin typeface="Segoe UI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9CA3AF"/>
                </a:solidFill>
                <a:latin typeface="Segoe UI"/>
              </a:rPr>
              <a:t>Every unit stays under their control: preview it,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9CA3AF"/>
                </a:solidFill>
                <a:latin typeface="Segoe UI"/>
              </a:rPr>
              <a:t>regenerate the visuals, or regenerate the whole 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80560"/>
            <a:ext cx="5120640" cy="1481328"/>
          </a:xfrm>
          <a:prstGeom prst="roundRect">
            <a:avLst>
              <a:gd name="adj" fmla="val 10000"/>
            </a:avLst>
          </a:prstGeom>
          <a:solidFill>
            <a:srgbClr val="1A1A28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6634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3F5E"/>
                </a:solidFill>
                <a:latin typeface="Segoe UI"/>
              </a:rPr>
              <a:t>THE INSIGHT TEACHERS DON'T GET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83480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“Lesson 3 lost half the room.”</a:t>
            </a:r>
          </a:p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FFFFFF"/>
                </a:solidFill>
                <a:latin typeface="Segoe UI"/>
              </a:rPr>
              <a:t>Not a guess at the end of term — visible the same day, per student, per lesson.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3076" y="2619756"/>
            <a:ext cx="5093208" cy="2512918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8_teach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51760"/>
            <a:ext cx="5029200" cy="244891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55080" y="60533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Concentration heatmap — students × lessons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5CFF"/>
                </a:solidFill>
                <a:latin typeface="Segoe UI"/>
              </a:rPr>
              <a:t>OUR 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Don't make every learner</a:t>
            </a:r>
          </a:p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adapt to education.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7C5CFF"/>
                </a:solidFill>
                <a:latin typeface="Segoe UI"/>
              </a:rPr>
              <a:t>Make education adapt to every learner.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3346704" cy="1051560"/>
          </a:xfrm>
          <a:prstGeom prst="roundRect">
            <a:avLst>
              <a:gd name="adj" fmla="val 14000"/>
            </a:avLst>
          </a:prstGeom>
          <a:solidFill>
            <a:srgbClr val="1A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C5CFF"/>
                </a:solidFill>
                <a:latin typeface="Segoe UI"/>
              </a:rPr>
              <a:t>Learner-adaptive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908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not merely accessible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160520"/>
            <a:ext cx="3346704" cy="1051560"/>
          </a:xfrm>
          <a:prstGeom prst="roundRect">
            <a:avLst>
              <a:gd name="adj" fmla="val 14000"/>
            </a:avLst>
          </a:prstGeom>
          <a:solidFill>
            <a:srgbClr val="1A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343400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B981"/>
                </a:solidFill>
                <a:latin typeface="Segoe UI"/>
              </a:rPr>
              <a:t>Multimodal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6908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not one format with add-ons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160520"/>
            <a:ext cx="3346704" cy="1051560"/>
          </a:xfrm>
          <a:prstGeom prst="roundRect">
            <a:avLst>
              <a:gd name="adj" fmla="val 14000"/>
            </a:avLst>
          </a:prstGeom>
          <a:solidFill>
            <a:srgbClr val="1A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343400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9E0B"/>
                </a:solidFill>
                <a:latin typeface="Segoe UI"/>
              </a:rPr>
              <a:t>Transforms your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6908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CA3AF"/>
                </a:solidFill>
                <a:latin typeface="Segoe UI"/>
              </a:rPr>
              <a:t>not another course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Existing platforms help a learner reach the content.</a:t>
            </a:r>
          </a:p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We help the content reach the learner.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5CFF"/>
                </a:solidFill>
                <a:latin typeface="Segoe UI"/>
              </a:rPr>
              <a:t>IMPACT  ·  SCALE  · 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FFFFF"/>
                </a:solidFill>
                <a:latin typeface="Segoe UI"/>
              </a:rPr>
              <a:t>From one classroom to inclusive-education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3346704" cy="1874519"/>
          </a:xfrm>
          <a:prstGeom prst="roundRect">
            <a:avLst>
              <a:gd name="adj" fmla="val 8000"/>
            </a:avLst>
          </a:prstGeom>
          <a:solidFill>
            <a:srgbClr val="141420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43F5E"/>
                </a:solidFill>
                <a:latin typeface="Segoe U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Learners excluded by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one-size-fits-all delivery —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and teachers without the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hours to fix it themselves.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72768"/>
            <a:ext cx="3346704" cy="1874519"/>
          </a:xfrm>
          <a:prstGeom prst="roundRect">
            <a:avLst>
              <a:gd name="adj" fmla="val 8000"/>
            </a:avLst>
          </a:prstGeom>
          <a:solidFill>
            <a:srgbClr val="141420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5CFF"/>
                </a:solidFill>
                <a:latin typeface="Segoe UI"/>
              </a:rP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Adaptive multimodal learning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generated from the curriculum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schools already 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72768"/>
            <a:ext cx="3346704" cy="1874519"/>
          </a:xfrm>
          <a:prstGeom prst="roundRect">
            <a:avLst>
              <a:gd name="adj" fmla="val 8000"/>
            </a:avLst>
          </a:prstGeom>
          <a:solidFill>
            <a:srgbClr val="141420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4884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More learners can access,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stay engaged with, and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finish what they start.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75887"/>
            <a:ext cx="6858000" cy="1874519"/>
          </a:xfrm>
          <a:prstGeom prst="roundRect">
            <a:avLst>
              <a:gd name="adj" fmla="val 7000"/>
            </a:avLst>
          </a:prstGeom>
          <a:solidFill>
            <a:srgbClr val="1A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88620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5CFF"/>
                </a:solidFill>
                <a:latin typeface="Segoe UI"/>
              </a:rPr>
              <a:t>WHO PAYS  ·  B2B / B2G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24528"/>
            <a:ext cx="6309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Schools and colleges subscribe per classroom.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NGOs and government inclusive-education programmes deploy at district scale.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9CA3AF"/>
                </a:solidFill>
                <a:latin typeface="Segoe UI"/>
              </a:rPr>
              <a:t>Students never pay to reach their own classroom's material.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675887"/>
            <a:ext cx="3291840" cy="1874519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8862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B981"/>
                </a:solidFill>
                <a:latin typeface="Segoe UI"/>
              </a:rPr>
              <a:t>BUILT FOR NEPAL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24528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CA3AF"/>
                </a:solidFill>
                <a:latin typeface="Segoe UI"/>
              </a:rPr>
              <a:t>eSewa payments already integrated.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CA3AF"/>
                </a:solidFill>
                <a:latin typeface="Segoe UI"/>
              </a:rPr>
              <a:t>Runs on modest hardware.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CA3AF"/>
                </a:solidFill>
                <a:latin typeface="Segoe UI"/>
              </a:rPr>
              <a:t>Designed for schools with no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CA3AF"/>
                </a:solidFill>
                <a:latin typeface="Segoe UI"/>
              </a:rPr>
              <a:t>specialist support staff.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SDG 4 — inclusive, equitable quality education. Not by building new schools, but by making the ones that exist reach further.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Education should adapt</a:t>
            </a:r>
          </a:p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to the learner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7C5CFF"/>
                </a:solidFill>
                <a:latin typeface="Segoe UI"/>
              </a:rPr>
              <a:t>not the other way around.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114800"/>
            <a:ext cx="82296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43484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Pragya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206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B981"/>
                </a:solidFill>
                <a:latin typeface="Segoe UI"/>
              </a:rPr>
              <a:t>Empowering Every 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4348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2000"/>
              </a:lnSpc>
            </a:pPr>
            <a:r>
              <a:rPr sz="1800" b="0" i="0">
                <a:solidFill>
                  <a:srgbClr val="9CA3AF"/>
                </a:solidFill>
                <a:latin typeface="Segoe UI"/>
              </a:rPr>
              <a:t>One curriculum.</a:t>
            </a:r>
          </a:p>
          <a:p>
            <a:pPr algn="r">
              <a:lnSpc>
                <a:spcPct val="142000"/>
              </a:lnSpc>
            </a:pPr>
            <a:r>
              <a:rPr sz="1800" b="0" i="0">
                <a:solidFill>
                  <a:srgbClr val="9CA3AF"/>
                </a:solidFill>
                <a:latin typeface="Segoe UI"/>
              </a:rPr>
              <a:t>Multiple ways to learn.</a:t>
            </a:r>
          </a:p>
          <a:p>
            <a:pPr algn="r">
              <a:lnSpc>
                <a:spcPct val="142000"/>
              </a:lnSpc>
            </a:pPr>
            <a:r>
              <a:rPr sz="1800" b="0" i="0">
                <a:solidFill>
                  <a:srgbClr val="9CA3AF"/>
                </a:solidFill>
                <a:latin typeface="Segoe UI"/>
              </a:rPr>
              <a:t>A platform that learns how you learn.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350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Segoe UI"/>
              </a:rPr>
              <a:t>Hackathon 2026  ·  Inclusive Education  ·  SDG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